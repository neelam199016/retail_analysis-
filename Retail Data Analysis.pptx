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35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59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49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51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949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67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896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228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1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78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175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69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786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222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35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076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00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30C1E8C-8FC7-4A35-B2C7-EDEE80092F6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DEFD859-EFF3-4268-8965-447F30F76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3760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445A-5866-ADE1-8605-BC09A1810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35037"/>
          </a:xfrm>
        </p:spPr>
        <p:txBody>
          <a:bodyPr>
            <a:normAutofit/>
          </a:bodyPr>
          <a:lstStyle/>
          <a:p>
            <a:r>
              <a:rPr lang="en-IN" sz="4800" b="1" i="1" u="sng" dirty="0"/>
              <a:t>Retail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DA263-647E-4F45-ADCC-209D45C7C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57399"/>
            <a:ext cx="9144000" cy="3678237"/>
          </a:xfrm>
        </p:spPr>
        <p:txBody>
          <a:bodyPr/>
          <a:lstStyle/>
          <a:p>
            <a:r>
              <a:rPr lang="en-IN" b="1" dirty="0"/>
              <a:t>Exploratory Data Analysis of Retail Transaction Data</a:t>
            </a:r>
            <a:endParaRPr lang="en-IN" dirty="0"/>
          </a:p>
          <a:p>
            <a:r>
              <a:rPr lang="en-IN" b="1" dirty="0"/>
              <a:t>Data Analyst Project</a:t>
            </a:r>
            <a:endParaRPr lang="en-IN" dirty="0"/>
          </a:p>
          <a:p>
            <a:r>
              <a:rPr lang="en-IN" b="1" dirty="0"/>
              <a:t>Presented by: Neelam Upadhyay</a:t>
            </a:r>
            <a:endParaRPr lang="en-IN" dirty="0"/>
          </a:p>
          <a:p>
            <a:r>
              <a:rPr lang="en-IN" b="1" dirty="0"/>
              <a:t>Tools:</a:t>
            </a:r>
            <a:r>
              <a:rPr lang="en-IN" dirty="0"/>
              <a:t> Python | Pandas | NumPy | Matplotlib | Seaborn | SciPy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05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2AFD9-F9D0-9127-57E1-9C573778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u="sng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C3E20-F927-6253-8956-704AC7E79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613"/>
            <a:ext cx="10515600" cy="470535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accent1"/>
                </a:solidFill>
              </a:rPr>
              <a:t>Project Overview</a:t>
            </a:r>
          </a:p>
          <a:p>
            <a:pPr lvl="0"/>
            <a:r>
              <a:rPr lang="en-IN" sz="2200" dirty="0"/>
              <a:t>This project performs </a:t>
            </a:r>
            <a:r>
              <a:rPr lang="en-IN" sz="2200" b="1" dirty="0"/>
              <a:t>Exploratory Data Analysis (EDA)</a:t>
            </a:r>
            <a:r>
              <a:rPr lang="en-IN" sz="2200" dirty="0"/>
              <a:t> on a large-scale retail transaction dataset. </a:t>
            </a:r>
          </a:p>
          <a:p>
            <a:pPr lvl="0"/>
            <a:r>
              <a:rPr lang="en-IN" sz="2200" dirty="0"/>
              <a:t>The dataset contains </a:t>
            </a:r>
            <a:r>
              <a:rPr lang="en-IN" sz="2200" b="1" dirty="0"/>
              <a:t>100,000 retail transaction records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The analysis focuses on customer, product, pricing, quantity, discount, delivery, and transaction information. </a:t>
            </a:r>
          </a:p>
          <a:p>
            <a:pPr lvl="0"/>
            <a:r>
              <a:rPr lang="en-IN" sz="2200" dirty="0"/>
              <a:t>Statistical methods and data visualizations were used to identify patterns and relationships. </a:t>
            </a:r>
          </a:p>
          <a:p>
            <a:pPr lvl="0"/>
            <a:r>
              <a:rPr lang="en-IN" sz="2200" dirty="0"/>
              <a:t>The project demonstrates how Python can be used to </a:t>
            </a:r>
            <a:r>
              <a:rPr lang="en-IN" sz="2200" dirty="0" err="1"/>
              <a:t>analyze</a:t>
            </a:r>
            <a:r>
              <a:rPr lang="en-IN" sz="2200" dirty="0"/>
              <a:t> and interpret retail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IN" u="sng" dirty="0">
                <a:solidFill>
                  <a:schemeClr val="accent1"/>
                </a:solidFill>
              </a:rPr>
              <a:t>Tools Used</a:t>
            </a:r>
          </a:p>
          <a:p>
            <a:pPr marL="0" indent="0">
              <a:buNone/>
            </a:pPr>
            <a:r>
              <a:rPr lang="en-IN" sz="2200" dirty="0"/>
              <a:t>Python | Pandas | NumPy | Matplotlib | Seaborn | SciPy</a:t>
            </a:r>
          </a:p>
        </p:txBody>
      </p:sp>
    </p:spTree>
    <p:extLst>
      <p:ext uri="{BB962C8B-B14F-4D97-AF65-F5344CB8AC3E}">
        <p14:creationId xmlns:p14="http://schemas.microsoft.com/office/powerpoint/2010/main" val="2372862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70CC-988A-D93B-35E8-D305E982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2163"/>
          </a:xfrm>
        </p:spPr>
        <p:txBody>
          <a:bodyPr/>
          <a:lstStyle/>
          <a:p>
            <a:r>
              <a:rPr lang="en-IN" b="1" i="1" u="sng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1D2B5-3B53-4675-408D-C9B9A46C7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7288"/>
            <a:ext cx="10515600" cy="50196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200" dirty="0"/>
              <a:t>The main objectives of this project are:</a:t>
            </a:r>
          </a:p>
          <a:p>
            <a:pPr lvl="0"/>
            <a:r>
              <a:rPr lang="en-IN" sz="2200" dirty="0"/>
              <a:t>Understand the structure of the retail dataset. </a:t>
            </a:r>
          </a:p>
          <a:p>
            <a:pPr lvl="0"/>
            <a:r>
              <a:rPr lang="en-IN" sz="2200" dirty="0"/>
              <a:t>Check and validate the quality of the data. </a:t>
            </a:r>
          </a:p>
          <a:p>
            <a:pPr lvl="0"/>
            <a:r>
              <a:rPr lang="en-IN" sz="2200" dirty="0"/>
              <a:t>Perform descriptive statistical analysis. </a:t>
            </a:r>
          </a:p>
          <a:p>
            <a:pPr lvl="0"/>
            <a:r>
              <a:rPr lang="en-IN" sz="2200" dirty="0" err="1"/>
              <a:t>Analyze</a:t>
            </a:r>
            <a:r>
              <a:rPr lang="en-IN" sz="2200" dirty="0"/>
              <a:t> individual variables using </a:t>
            </a:r>
            <a:r>
              <a:rPr lang="en-IN" sz="2200" b="1" dirty="0"/>
              <a:t>Univariate Analysis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Examine relationships between two variables using </a:t>
            </a:r>
            <a:r>
              <a:rPr lang="en-IN" sz="2200" b="1" dirty="0"/>
              <a:t>Bivariate Analysis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 err="1"/>
              <a:t>Analyze</a:t>
            </a:r>
            <a:r>
              <a:rPr lang="en-IN" sz="2200" dirty="0"/>
              <a:t> multiple variables using </a:t>
            </a:r>
            <a:r>
              <a:rPr lang="en-IN" sz="2200" b="1" dirty="0"/>
              <a:t>Multivariate Analysis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Identify important relationships between </a:t>
            </a:r>
            <a:r>
              <a:rPr lang="en-IN" sz="2200" b="1" dirty="0"/>
              <a:t>Product Price, Quantity, Discount, and Final Price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Extract meaningful business insights from the analysis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1697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7677-B326-47A2-58AE-A8647BC4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50482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0C1F6-2A22-1243-C5FF-F14E7604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5863"/>
            <a:ext cx="10515600" cy="49911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Dataset Size</a:t>
            </a:r>
            <a:endParaRPr lang="en-IN" dirty="0"/>
          </a:p>
          <a:p>
            <a:pPr lvl="0"/>
            <a:r>
              <a:rPr lang="en-IN" sz="2200" b="1" dirty="0"/>
              <a:t>100,000</a:t>
            </a:r>
            <a:r>
              <a:rPr lang="en-IN" sz="2200" dirty="0"/>
              <a:t> transaction records </a:t>
            </a:r>
          </a:p>
          <a:p>
            <a:pPr lvl="0"/>
            <a:r>
              <a:rPr lang="en-IN" sz="2200" b="1" dirty="0"/>
              <a:t>18</a:t>
            </a:r>
            <a:r>
              <a:rPr lang="en-IN" sz="2200" dirty="0"/>
              <a:t> original variables </a:t>
            </a:r>
          </a:p>
          <a:p>
            <a:pPr lvl="0"/>
            <a:r>
              <a:rPr lang="en-IN" sz="2200" dirty="0"/>
              <a:t>Customer and order information </a:t>
            </a:r>
          </a:p>
          <a:p>
            <a:pPr lvl="0"/>
            <a:r>
              <a:rPr lang="en-IN" sz="2200" dirty="0"/>
              <a:t>Product and pricing information </a:t>
            </a:r>
          </a:p>
          <a:p>
            <a:pPr lvl="0"/>
            <a:r>
              <a:rPr lang="en-IN" sz="2200" dirty="0"/>
              <a:t>Discount and quantity information </a:t>
            </a:r>
          </a:p>
          <a:p>
            <a:pPr lvl="0"/>
            <a:r>
              <a:rPr lang="en-IN" sz="2200" dirty="0"/>
              <a:t>Payment and shipping information </a:t>
            </a:r>
          </a:p>
          <a:p>
            <a:pPr lvl="0"/>
            <a:r>
              <a:rPr lang="en-IN" sz="2200" dirty="0"/>
              <a:t>Delivery and return information 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77688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D8FB3-2E4E-7E1C-1BF7-FFAE2C86B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77863"/>
          </a:xfrm>
        </p:spPr>
        <p:txBody>
          <a:bodyPr>
            <a:normAutofit/>
          </a:bodyPr>
          <a:lstStyle/>
          <a:p>
            <a:r>
              <a:rPr lang="en-IN" b="1" i="1" u="sng" dirty="0"/>
              <a:t>Important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9CFBD-4BAC-5E5B-D7E0-92724FA5D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42988"/>
            <a:ext cx="5157787" cy="638175"/>
          </a:xfrm>
        </p:spPr>
        <p:txBody>
          <a:bodyPr/>
          <a:lstStyle/>
          <a:p>
            <a:pPr algn="ctr"/>
            <a:r>
              <a:rPr lang="en-IN" dirty="0"/>
              <a:t>Category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225BB-D74B-DEFA-B976-45D512BF4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1957388"/>
            <a:ext cx="2774950" cy="4232275"/>
          </a:xfrm>
        </p:spPr>
        <p:txBody>
          <a:bodyPr/>
          <a:lstStyle/>
          <a:p>
            <a:r>
              <a:rPr lang="en-IN" dirty="0"/>
              <a:t>Customer</a:t>
            </a:r>
          </a:p>
          <a:p>
            <a:r>
              <a:rPr lang="en-IN" dirty="0"/>
              <a:t>Order</a:t>
            </a:r>
          </a:p>
          <a:p>
            <a:r>
              <a:rPr lang="en-IN" dirty="0"/>
              <a:t>Product</a:t>
            </a:r>
          </a:p>
          <a:p>
            <a:r>
              <a:rPr lang="en-IN" dirty="0"/>
              <a:t>Transaction</a:t>
            </a:r>
          </a:p>
          <a:p>
            <a:r>
              <a:rPr lang="en-IN" dirty="0"/>
              <a:t>Delivery</a:t>
            </a:r>
          </a:p>
          <a:p>
            <a:r>
              <a:rPr lang="en-IN" dirty="0"/>
              <a:t>Return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D0A41-A878-EED2-2E88-06F7A5172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42989"/>
            <a:ext cx="5183188" cy="677863"/>
          </a:xfrm>
        </p:spPr>
        <p:txBody>
          <a:bodyPr/>
          <a:lstStyle/>
          <a:p>
            <a:pPr algn="ctr"/>
            <a:r>
              <a:rPr lang="en-IN" dirty="0"/>
              <a:t>Variables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10FD6F-9D03-FA35-5B23-5EFA50FB9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57689" y="1957388"/>
            <a:ext cx="6997700" cy="4232275"/>
          </a:xfrm>
        </p:spPr>
        <p:txBody>
          <a:bodyPr/>
          <a:lstStyle/>
          <a:p>
            <a:r>
              <a:rPr lang="en-IN" dirty="0"/>
              <a:t>Age, Gender, City, State, Customer Segment</a:t>
            </a:r>
          </a:p>
          <a:p>
            <a:r>
              <a:rPr lang="en-IN" dirty="0"/>
              <a:t>Order ID, Order Date</a:t>
            </a:r>
          </a:p>
          <a:p>
            <a:r>
              <a:rPr lang="en-IN" dirty="0"/>
              <a:t>Category, Subcategory, Product Price</a:t>
            </a:r>
          </a:p>
          <a:p>
            <a:r>
              <a:rPr lang="en-IN" dirty="0"/>
              <a:t>Quantity, Discount, Final Price</a:t>
            </a:r>
          </a:p>
          <a:p>
            <a:r>
              <a:rPr lang="en-IN" dirty="0"/>
              <a:t>Shipping Type, Delivery Days</a:t>
            </a:r>
          </a:p>
          <a:p>
            <a:r>
              <a:rPr lang="en-IN" dirty="0"/>
              <a:t>Return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87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601F-DAF9-9ACF-6441-FE67B683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725"/>
          </a:xfrm>
        </p:spPr>
        <p:txBody>
          <a:bodyPr/>
          <a:lstStyle/>
          <a:p>
            <a:r>
              <a:rPr lang="en-IN" b="1" i="1" u="sng" dirty="0"/>
              <a:t>Data Quality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9F9FD-F0BA-EC39-BF9C-D06C13E37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10515600" cy="49196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Before performing the analysis, the dataset was checked for common data-quality problems.</a:t>
            </a:r>
          </a:p>
          <a:p>
            <a:r>
              <a:rPr lang="en-IN" b="1" dirty="0"/>
              <a:t>Results</a:t>
            </a:r>
          </a:p>
          <a:p>
            <a:pPr lvl="0"/>
            <a:r>
              <a:rPr lang="en-IN" b="1" dirty="0"/>
              <a:t>Missing Values:</a:t>
            </a:r>
            <a:r>
              <a:rPr lang="en-IN" dirty="0"/>
              <a:t> 0 </a:t>
            </a:r>
          </a:p>
          <a:p>
            <a:pPr lvl="0"/>
            <a:r>
              <a:rPr lang="en-IN" b="1" dirty="0"/>
              <a:t>Duplicate Records:</a:t>
            </a:r>
            <a:r>
              <a:rPr lang="en-IN" dirty="0"/>
              <a:t> 0 </a:t>
            </a:r>
          </a:p>
          <a:p>
            <a:pPr lvl="0"/>
            <a:r>
              <a:rPr lang="en-IN" b="1" dirty="0"/>
              <a:t>Invalid Age Values:</a:t>
            </a:r>
            <a:r>
              <a:rPr lang="en-IN" dirty="0"/>
              <a:t> 0 </a:t>
            </a:r>
          </a:p>
          <a:p>
            <a:pPr lvl="0"/>
            <a:r>
              <a:rPr lang="en-IN" b="1" dirty="0"/>
              <a:t>Invalid Quantity Values:</a:t>
            </a:r>
            <a:r>
              <a:rPr lang="en-IN" dirty="0"/>
              <a:t> 0 </a:t>
            </a:r>
          </a:p>
          <a:p>
            <a:pPr lvl="0"/>
            <a:r>
              <a:rPr lang="en-IN" b="1" dirty="0"/>
              <a:t>Invalid Discount Values:</a:t>
            </a:r>
            <a:r>
              <a:rPr lang="en-IN" dirty="0"/>
              <a:t> 0 </a:t>
            </a:r>
          </a:p>
          <a:p>
            <a:pPr lvl="0"/>
            <a:r>
              <a:rPr lang="en-IN" b="1" dirty="0"/>
              <a:t>Invalid Product Prices:</a:t>
            </a:r>
            <a:r>
              <a:rPr lang="en-IN" dirty="0"/>
              <a:t> 0 </a:t>
            </a:r>
          </a:p>
          <a:p>
            <a:pPr lvl="0"/>
            <a:r>
              <a:rPr lang="en-IN" b="1" dirty="0"/>
              <a:t>Invalid Delivery Days:</a:t>
            </a:r>
            <a:r>
              <a:rPr lang="en-IN" dirty="0"/>
              <a:t> 0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Conclusion</a:t>
            </a:r>
          </a:p>
          <a:p>
            <a:r>
              <a:rPr lang="en-IN" dirty="0"/>
              <a:t>The data-quality checks did not identify missing, duplicate, or invalid values in the checked fields.</a:t>
            </a:r>
          </a:p>
          <a:p>
            <a:r>
              <a:rPr lang="en-IN" b="1" dirty="0"/>
              <a:t>Therefore, the dataset was suitable for further statistical analysis and visualization.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37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864FC-8DE7-1ADB-FDA3-5A7EB454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25"/>
          </a:xfrm>
        </p:spPr>
        <p:txBody>
          <a:bodyPr>
            <a:normAutofit/>
          </a:bodyPr>
          <a:lstStyle/>
          <a:p>
            <a:r>
              <a:rPr lang="en-IN" dirty="0"/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CF998-A8C7-2E75-0547-C2A4E244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4425"/>
            <a:ext cx="10515600" cy="537845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Several statistical techniques were used to understand the numerical variables.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Techniques Used</a:t>
            </a:r>
          </a:p>
          <a:p>
            <a:pPr marL="0" indent="0">
              <a:buNone/>
            </a:pPr>
            <a:r>
              <a:rPr lang="en-IN" b="1" dirty="0"/>
              <a:t>1. Descriptive Statistics</a:t>
            </a:r>
            <a:endParaRPr lang="en-IN" dirty="0"/>
          </a:p>
          <a:p>
            <a:pPr lvl="0"/>
            <a:r>
              <a:rPr lang="en-IN" dirty="0"/>
              <a:t>Mean </a:t>
            </a:r>
          </a:p>
          <a:p>
            <a:pPr lvl="0"/>
            <a:r>
              <a:rPr lang="en-IN" dirty="0"/>
              <a:t>Median </a:t>
            </a:r>
          </a:p>
          <a:p>
            <a:pPr lvl="0"/>
            <a:r>
              <a:rPr lang="en-IN" dirty="0"/>
              <a:t>Standard deviation </a:t>
            </a:r>
          </a:p>
          <a:p>
            <a:pPr lvl="0"/>
            <a:r>
              <a:rPr lang="en-IN" dirty="0"/>
              <a:t>Minimum and maximum </a:t>
            </a:r>
          </a:p>
          <a:p>
            <a:pPr lvl="0"/>
            <a:r>
              <a:rPr lang="en-IN" dirty="0"/>
              <a:t>Quartiles </a:t>
            </a:r>
          </a:p>
          <a:p>
            <a:pPr marL="0" indent="0">
              <a:buNone/>
            </a:pPr>
            <a:r>
              <a:rPr lang="en-IN" b="1" dirty="0"/>
              <a:t>2. Quartile &amp; IQR Analysis</a:t>
            </a:r>
            <a:endParaRPr lang="en-IN" dirty="0"/>
          </a:p>
          <a:p>
            <a:pPr lvl="0"/>
            <a:r>
              <a:rPr lang="en-IN" dirty="0"/>
              <a:t>Q1 </a:t>
            </a:r>
          </a:p>
          <a:p>
            <a:pPr lvl="0"/>
            <a:r>
              <a:rPr lang="en-IN" dirty="0"/>
              <a:t>Median </a:t>
            </a:r>
          </a:p>
          <a:p>
            <a:pPr lvl="0"/>
            <a:r>
              <a:rPr lang="en-IN" dirty="0"/>
              <a:t>Q3 </a:t>
            </a:r>
          </a:p>
          <a:p>
            <a:pPr lvl="0"/>
            <a:r>
              <a:rPr lang="en-IN" dirty="0"/>
              <a:t>Interquartile Range</a:t>
            </a:r>
          </a:p>
          <a:p>
            <a:pPr lvl="0"/>
            <a:r>
              <a:rPr lang="en-IN" dirty="0"/>
              <a:t>Potential outliers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2790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1D9B-8C8E-6D1C-2932-084F7746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/>
          </a:bodyPr>
          <a:lstStyle/>
          <a:p>
            <a:r>
              <a:rPr lang="en-US" sz="900" dirty="0" err="1"/>
              <a:t>Cont</a:t>
            </a:r>
            <a:r>
              <a:rPr lang="en-US" sz="900" dirty="0"/>
              <a:t>….</a:t>
            </a:r>
            <a:endParaRPr lang="en-IN" sz="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DDE2B-EDC9-4FF6-3710-12F4B2EA9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 Distribution Analysis</a:t>
            </a:r>
            <a:endParaRPr lang="en-IN" dirty="0"/>
          </a:p>
          <a:p>
            <a:pPr lvl="0"/>
            <a:r>
              <a:rPr lang="en-IN" dirty="0"/>
              <a:t>Skewness </a:t>
            </a:r>
          </a:p>
          <a:p>
            <a:pPr lvl="0"/>
            <a:r>
              <a:rPr lang="en-IN" dirty="0"/>
              <a:t>Kurtosis </a:t>
            </a:r>
          </a:p>
          <a:p>
            <a:pPr marL="0" indent="0">
              <a:buNone/>
            </a:pPr>
            <a:r>
              <a:rPr lang="en-IN" b="1" dirty="0"/>
              <a:t>4. Confidence Interval</a:t>
            </a:r>
            <a:endParaRPr lang="en-IN" dirty="0"/>
          </a:p>
          <a:p>
            <a:pPr lvl="0"/>
            <a:r>
              <a:rPr lang="en-IN" dirty="0"/>
              <a:t>95% confidence interval for mean Final Price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Result:</a:t>
            </a:r>
            <a:endParaRPr lang="en-IN" dirty="0"/>
          </a:p>
          <a:p>
            <a:r>
              <a:rPr lang="en-IN" b="1" dirty="0"/>
              <a:t>Mean Final Price = ₹64,165.72</a:t>
            </a:r>
            <a:endParaRPr lang="en-IN" dirty="0"/>
          </a:p>
          <a:p>
            <a:r>
              <a:rPr lang="en-IN" b="1" dirty="0"/>
              <a:t>95% Confidence Interval = ₹63,856.01 – ₹64,475.43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317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1BDA-8422-B87A-D203-4CBCA6102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/>
          </a:bodyPr>
          <a:lstStyle/>
          <a:p>
            <a:r>
              <a:rPr lang="en-IN" b="1" i="1" u="sng" dirty="0"/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29DD4-3E1A-8876-ED71-4236E9DAD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713"/>
            <a:ext cx="10515600" cy="5048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1800" dirty="0"/>
              <a:t>Univariate analysis examines </a:t>
            </a:r>
            <a:r>
              <a:rPr lang="en-IN" sz="1800" b="1" dirty="0"/>
              <a:t>one variable at a time</a:t>
            </a:r>
            <a:r>
              <a:rPr lang="en-IN" sz="18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b="1" dirty="0"/>
              <a:t>Key Results</a:t>
            </a:r>
          </a:p>
          <a:p>
            <a:pPr lvl="0"/>
            <a:r>
              <a:rPr lang="en-IN" sz="1800" b="1" dirty="0"/>
              <a:t>Age:</a:t>
            </a:r>
            <a:r>
              <a:rPr lang="en-IN" sz="1800" dirty="0"/>
              <a:t> Mean = 41.56 years; range = 18–65 years </a:t>
            </a:r>
          </a:p>
          <a:p>
            <a:pPr lvl="0"/>
            <a:r>
              <a:rPr lang="en-IN" sz="1800" b="1" dirty="0"/>
              <a:t>Product Price:</a:t>
            </a:r>
            <a:r>
              <a:rPr lang="en-IN" sz="1800" dirty="0"/>
              <a:t> Mean = ₹30,164.53 </a:t>
            </a:r>
          </a:p>
          <a:p>
            <a:pPr lvl="0"/>
            <a:r>
              <a:rPr lang="en-IN" sz="1800" b="1" dirty="0"/>
              <a:t>Quantity:</a:t>
            </a:r>
            <a:r>
              <a:rPr lang="en-IN" sz="1800" dirty="0"/>
              <a:t> 1–4 units per transaction </a:t>
            </a:r>
          </a:p>
          <a:p>
            <a:pPr lvl="0"/>
            <a:r>
              <a:rPr lang="en-IN" sz="1800" b="1" dirty="0"/>
              <a:t>Discount Percentage:</a:t>
            </a:r>
            <a:r>
              <a:rPr lang="en-IN" sz="1800" dirty="0"/>
              <a:t> Mean = 15.01% </a:t>
            </a:r>
          </a:p>
          <a:p>
            <a:pPr lvl="0"/>
            <a:r>
              <a:rPr lang="en-IN" sz="1800" b="1" dirty="0"/>
              <a:t>Final Price:</a:t>
            </a:r>
            <a:r>
              <a:rPr lang="en-IN" sz="1800" dirty="0"/>
              <a:t> Mean = ₹64,165.72 </a:t>
            </a:r>
          </a:p>
          <a:p>
            <a:pPr lvl="0"/>
            <a:r>
              <a:rPr lang="en-IN" sz="1800" b="1" dirty="0"/>
              <a:t>Delivery Days:</a:t>
            </a:r>
            <a:r>
              <a:rPr lang="en-IN" sz="1800" dirty="0"/>
              <a:t> Mean = 5.51 days; range = 1–10 days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100" b="1" dirty="0"/>
              <a:t>Visualizations Used</a:t>
            </a:r>
          </a:p>
          <a:p>
            <a:pPr lvl="0"/>
            <a:r>
              <a:rPr lang="en-IN" sz="2100" dirty="0"/>
              <a:t>Age Distribution </a:t>
            </a:r>
          </a:p>
          <a:p>
            <a:pPr lvl="0"/>
            <a:r>
              <a:rPr lang="en-IN" sz="2100" dirty="0"/>
              <a:t>Product Price Distribution </a:t>
            </a:r>
          </a:p>
          <a:p>
            <a:pPr lvl="0"/>
            <a:r>
              <a:rPr lang="en-IN" sz="2100" dirty="0"/>
              <a:t>Quantity Distribution </a:t>
            </a:r>
          </a:p>
          <a:p>
            <a:pPr lvl="0"/>
            <a:r>
              <a:rPr lang="en-IN" sz="2100" dirty="0"/>
              <a:t>Discount Distribution </a:t>
            </a:r>
          </a:p>
          <a:p>
            <a:pPr lvl="0"/>
            <a:r>
              <a:rPr lang="en-IN" sz="2100" dirty="0"/>
              <a:t>Final Price Distribution </a:t>
            </a:r>
          </a:p>
          <a:p>
            <a:pPr lvl="0"/>
            <a:r>
              <a:rPr lang="en-IN" sz="2100" dirty="0"/>
              <a:t>Delivery Days Distribution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853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7134-6C9A-5809-D1AB-A2AC4B204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4988"/>
          </a:xfrm>
        </p:spPr>
        <p:txBody>
          <a:bodyPr>
            <a:normAutofit fontScale="90000"/>
          </a:bodyPr>
          <a:lstStyle/>
          <a:p>
            <a:r>
              <a:rPr lang="en-IN" b="1" i="1" u="sng" dirty="0"/>
              <a:t>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7F978-F2C4-34BC-1E78-E9A11C390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1562"/>
            <a:ext cx="10515600" cy="542131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200" dirty="0"/>
              <a:t>Bivariate analysis examines the relationship between </a:t>
            </a:r>
            <a:r>
              <a:rPr lang="en-IN" sz="2200" b="1" dirty="0"/>
              <a:t>two variables</a:t>
            </a:r>
            <a:r>
              <a:rPr lang="en-IN" sz="2200" dirty="0"/>
              <a:t>.</a:t>
            </a:r>
          </a:p>
          <a:p>
            <a:r>
              <a:rPr lang="en-IN" sz="2200" b="1" dirty="0"/>
              <a:t>Relationships Examined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/>
              <a:t>Product Price vs Final Price</a:t>
            </a:r>
            <a:endParaRPr lang="en-IN" sz="2200" dirty="0"/>
          </a:p>
          <a:p>
            <a:r>
              <a:rPr lang="en-IN" sz="2200" dirty="0"/>
              <a:t>Correlation = </a:t>
            </a:r>
            <a:r>
              <a:rPr lang="en-IN" sz="2200" b="1" dirty="0"/>
              <a:t>0.731</a:t>
            </a:r>
            <a:endParaRPr lang="en-IN" sz="2200" dirty="0"/>
          </a:p>
          <a:p>
            <a:r>
              <a:rPr lang="en-IN" sz="2200" dirty="0"/>
              <a:t>→ Strong positive linear association.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/>
              <a:t>Quantity vs Final Price</a:t>
            </a:r>
          </a:p>
          <a:p>
            <a:r>
              <a:rPr lang="en-IN" sz="2200" dirty="0"/>
              <a:t>Correlation = </a:t>
            </a:r>
            <a:r>
              <a:rPr lang="en-IN" sz="2200" b="1" dirty="0"/>
              <a:t>0.575</a:t>
            </a:r>
            <a:endParaRPr lang="en-IN" sz="2200" dirty="0"/>
          </a:p>
          <a:p>
            <a:r>
              <a:rPr lang="en-IN" sz="2200" dirty="0"/>
              <a:t>→ Moderate positive linear association.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/>
              <a:t>Discount Percentage vs Final Price</a:t>
            </a:r>
            <a:endParaRPr lang="en-IN" sz="2200" dirty="0"/>
          </a:p>
          <a:p>
            <a:r>
              <a:rPr lang="en-IN" sz="2200" dirty="0"/>
              <a:t>Correlation = </a:t>
            </a:r>
            <a:r>
              <a:rPr lang="en-IN" sz="2200" b="1" dirty="0"/>
              <a:t>-0.137</a:t>
            </a:r>
            <a:endParaRPr lang="en-IN" sz="2200" dirty="0"/>
          </a:p>
          <a:p>
            <a:r>
              <a:rPr lang="en-IN" sz="2200" dirty="0"/>
              <a:t>→ Weak negative linear association.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/>
              <a:t>Age vs Final Price</a:t>
            </a:r>
          </a:p>
          <a:p>
            <a:r>
              <a:rPr lang="en-IN" sz="2400" dirty="0"/>
              <a:t>Correlation = </a:t>
            </a:r>
            <a:r>
              <a:rPr lang="en-IN" sz="2400" b="1" dirty="0"/>
              <a:t>-0.001</a:t>
            </a:r>
            <a:endParaRPr lang="en-IN" sz="2400" dirty="0"/>
          </a:p>
          <a:p>
            <a:r>
              <a:rPr lang="en-IN" sz="2400" dirty="0"/>
              <a:t>→ Almost no linear relationship.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Visualizations</a:t>
            </a:r>
          </a:p>
          <a:p>
            <a:r>
              <a:rPr lang="en-IN" sz="2400" dirty="0"/>
              <a:t>Scatter plots were used to examine these relationships.</a:t>
            </a:r>
          </a:p>
          <a:p>
            <a:endParaRPr lang="en-IN" sz="2400" dirty="0"/>
          </a:p>
          <a:p>
            <a:pPr marL="0" indent="0">
              <a:buNone/>
            </a:pPr>
            <a:endParaRPr lang="en-IN" sz="2200" dirty="0"/>
          </a:p>
          <a:p>
            <a:endParaRPr lang="en-IN" sz="2200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50654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2A470-0FC1-2D46-8AD1-AF954EAD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300"/>
          </a:xfrm>
        </p:spPr>
        <p:txBody>
          <a:bodyPr/>
          <a:lstStyle/>
          <a:p>
            <a:r>
              <a:rPr lang="en-IN" b="1" i="1" u="sng" dirty="0"/>
              <a:t>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D9FEA-CA73-7E09-3381-BEFB1876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4426"/>
            <a:ext cx="10515600" cy="5062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Multivariate analysis examines relationships among </a:t>
            </a:r>
            <a:r>
              <a:rPr lang="en-IN" b="1" dirty="0"/>
              <a:t>multiple variables simultaneously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Variables </a:t>
            </a:r>
            <a:r>
              <a:rPr lang="en-IN" b="1" dirty="0" err="1"/>
              <a:t>Analyzed</a:t>
            </a:r>
            <a:endParaRPr lang="en-IN" b="1" dirty="0"/>
          </a:p>
          <a:p>
            <a:pPr lvl="0"/>
            <a:r>
              <a:rPr lang="en-IN" dirty="0"/>
              <a:t>Age </a:t>
            </a:r>
          </a:p>
          <a:p>
            <a:pPr lvl="0"/>
            <a:r>
              <a:rPr lang="en-IN" dirty="0"/>
              <a:t>Product Price </a:t>
            </a:r>
          </a:p>
          <a:p>
            <a:pPr lvl="0"/>
            <a:r>
              <a:rPr lang="en-IN" dirty="0"/>
              <a:t>Quantity </a:t>
            </a:r>
          </a:p>
          <a:p>
            <a:pPr lvl="0"/>
            <a:r>
              <a:rPr lang="en-IN" dirty="0"/>
              <a:t>Discount Percentage </a:t>
            </a:r>
          </a:p>
          <a:p>
            <a:pPr lvl="0"/>
            <a:r>
              <a:rPr lang="en-IN" dirty="0"/>
              <a:t>Final Price </a:t>
            </a:r>
          </a:p>
          <a:p>
            <a:pPr lvl="0"/>
            <a:r>
              <a:rPr lang="en-IN" dirty="0"/>
              <a:t>Delivery Days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129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1D9E-B924-A9FF-D7CE-98551DD8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92088"/>
          </a:xfrm>
        </p:spPr>
        <p:txBody>
          <a:bodyPr>
            <a:normAutofit fontScale="90000"/>
          </a:bodyPr>
          <a:lstStyle/>
          <a:p>
            <a:r>
              <a:rPr lang="en-US" sz="800" dirty="0" err="1"/>
              <a:t>Cont</a:t>
            </a:r>
            <a:r>
              <a:rPr lang="en-US" sz="800" dirty="0"/>
              <a:t>….</a:t>
            </a:r>
            <a:endParaRPr lang="en-IN" sz="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287AF-55BA-E6FC-1552-F23470BF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4375"/>
            <a:ext cx="10515600" cy="54625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Techniques Used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Correlation Matrix</a:t>
            </a:r>
            <a:endParaRPr lang="en-IN" dirty="0"/>
          </a:p>
          <a:p>
            <a:r>
              <a:rPr lang="en-IN" dirty="0"/>
              <a:t>Used to measure relationships between numerical variables.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Correlation Heatmap</a:t>
            </a:r>
            <a:endParaRPr lang="en-IN" dirty="0"/>
          </a:p>
          <a:p>
            <a:r>
              <a:rPr lang="en-IN" dirty="0"/>
              <a:t>Used to visually identify stronger and weaker relationships.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Product Price vs Final Price by Quantity</a:t>
            </a:r>
            <a:endParaRPr lang="en-IN" dirty="0"/>
          </a:p>
          <a:p>
            <a:r>
              <a:rPr lang="en-IN" dirty="0"/>
              <a:t>Quantity was included as an additional variable using different groups in the scatter plot.</a:t>
            </a:r>
          </a:p>
          <a:p>
            <a:pPr marL="0" indent="0">
              <a:buNone/>
            </a:pPr>
            <a:r>
              <a:rPr lang="en-IN" b="1" dirty="0"/>
              <a:t>Main Observation</a:t>
            </a:r>
          </a:p>
          <a:p>
            <a:r>
              <a:rPr lang="en-IN" b="1" dirty="0"/>
              <a:t>Product Price and Quantity show stronger associations with Final Price than the other numerical variables examined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759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CAB2-105B-E183-2269-FD0755F1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7838"/>
          </a:xfrm>
        </p:spPr>
        <p:txBody>
          <a:bodyPr>
            <a:normAutofit fontScale="90000"/>
          </a:bodyPr>
          <a:lstStyle/>
          <a:p>
            <a:r>
              <a:rPr lang="en-IN" b="1" i="1" u="sng" dirty="0"/>
              <a:t>Key Findings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91156F-7E30-4AF9-FC23-33E3A156E4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396750"/>
              </p:ext>
            </p:extLst>
          </p:nvPr>
        </p:nvGraphicFramePr>
        <p:xfrm>
          <a:off x="1141413" y="2667000"/>
          <a:ext cx="9906000" cy="312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01999">
                  <a:extLst>
                    <a:ext uri="{9D8B030D-6E8A-4147-A177-3AD203B41FA5}">
                      <a16:colId xmlns:a16="http://schemas.microsoft.com/office/drawing/2014/main" val="2373452418"/>
                    </a:ext>
                  </a:extLst>
                </a:gridCol>
                <a:gridCol w="3301999">
                  <a:extLst>
                    <a:ext uri="{9D8B030D-6E8A-4147-A177-3AD203B41FA5}">
                      <a16:colId xmlns:a16="http://schemas.microsoft.com/office/drawing/2014/main" val="1380688307"/>
                    </a:ext>
                  </a:extLst>
                </a:gridCol>
                <a:gridCol w="3301999">
                  <a:extLst>
                    <a:ext uri="{9D8B030D-6E8A-4147-A177-3AD203B41FA5}">
                      <a16:colId xmlns:a16="http://schemas.microsoft.com/office/drawing/2014/main" val="3030215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Relationship</a:t>
                      </a:r>
                      <a:endParaRPr lang="en-IN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Correlation </a:t>
                      </a:r>
                      <a:endParaRPr lang="en-IN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Interpretation</a:t>
                      </a:r>
                      <a:endParaRPr lang="en-IN" dirty="0"/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3428352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Product Price ↔ Final Price</a:t>
                      </a:r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0.731</a:t>
                      </a:r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Strong positive association</a:t>
                      </a:r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2100826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Quantity ↔ Final Price</a:t>
                      </a:r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0.575</a:t>
                      </a:r>
                      <a:endParaRPr lang="en-IN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 positive association</a:t>
                      </a:r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2160095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Discount ↔ Final Price</a:t>
                      </a:r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-0.137</a:t>
                      </a:r>
                      <a:endParaRPr lang="en-IN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Weak negative association</a:t>
                      </a:r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4097948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Age ↔ Final Price</a:t>
                      </a:r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-0.001</a:t>
                      </a:r>
                      <a:endParaRPr lang="en-IN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Almost no linear relationship</a:t>
                      </a:r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3531924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Delivery Days ↔ Final Price</a:t>
                      </a:r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0.004</a:t>
                      </a:r>
                      <a:endParaRPr lang="en-IN" dirty="0"/>
                    </a:p>
                  </a:txBody>
                  <a:tcPr marL="86139" marR="86139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Almost no linear relationship</a:t>
                      </a:r>
                    </a:p>
                  </a:txBody>
                  <a:tcPr marL="86139" marR="86139"/>
                </a:tc>
                <a:extLst>
                  <a:ext uri="{0D108BD9-81ED-4DB2-BD59-A6C34878D82A}">
                    <a16:rowId xmlns:a16="http://schemas.microsoft.com/office/drawing/2014/main" val="603833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418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5FC9-9BDB-A0E7-C9A6-BA42FCB34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068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900" dirty="0" err="1"/>
              <a:t>cont</a:t>
            </a:r>
            <a:r>
              <a:rPr lang="en-US" sz="900" dirty="0"/>
              <a:t>….</a:t>
            </a:r>
            <a:endParaRPr lang="en-IN" sz="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05C0E-1CAC-8EC8-CAF1-4B1356C36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275"/>
            <a:ext cx="10515600" cy="511968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Additional Findings</a:t>
            </a:r>
          </a:p>
          <a:p>
            <a:pPr lvl="0"/>
            <a:r>
              <a:rPr lang="en-IN" dirty="0"/>
              <a:t>Final Price is </a:t>
            </a:r>
            <a:r>
              <a:rPr lang="en-IN" b="1" dirty="0"/>
              <a:t>right-skewed</a:t>
            </a:r>
            <a:r>
              <a:rPr lang="en-IN" dirty="0"/>
              <a:t> with skewness of approximately </a:t>
            </a:r>
            <a:r>
              <a:rPr lang="en-IN" b="1" dirty="0"/>
              <a:t>0.935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Product Price had </a:t>
            </a:r>
            <a:r>
              <a:rPr lang="en-IN" b="1" dirty="0"/>
              <a:t>0 potential outliers</a:t>
            </a:r>
            <a:r>
              <a:rPr lang="en-IN" dirty="0"/>
              <a:t> according to the IQR rule. </a:t>
            </a:r>
          </a:p>
          <a:p>
            <a:pPr lvl="0"/>
            <a:r>
              <a:rPr lang="en-IN" dirty="0"/>
              <a:t>The Product Price–Final Price correlation was statistically significant at the </a:t>
            </a:r>
            <a:r>
              <a:rPr lang="en-IN" b="1" dirty="0"/>
              <a:t>5% level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228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B0DC-FFF4-7924-83BD-80F77AF89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50"/>
            <a:ext cx="10515600" cy="528638"/>
          </a:xfrm>
        </p:spPr>
        <p:txBody>
          <a:bodyPr>
            <a:normAutofit fontScale="90000"/>
          </a:bodyPr>
          <a:lstStyle/>
          <a:p>
            <a:r>
              <a:rPr lang="en-IN" i="1" u="sng" dirty="0"/>
              <a:t>Business Insights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23617-B3E7-9C85-DBB3-4E61F7F67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2482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1. Product Pricing</a:t>
            </a:r>
          </a:p>
          <a:p>
            <a:r>
              <a:rPr lang="en-IN" dirty="0"/>
              <a:t>Product Price has a strong positive association with Final Price.</a:t>
            </a:r>
          </a:p>
          <a:p>
            <a:pPr marL="0" indent="0">
              <a:buNone/>
            </a:pPr>
            <a:r>
              <a:rPr lang="en-IN" b="1" dirty="0"/>
              <a:t>2. Quantity</a:t>
            </a:r>
          </a:p>
          <a:p>
            <a:r>
              <a:rPr lang="en-IN" dirty="0"/>
              <a:t>Transactions with higher quantities tend to have higher Final Prices.</a:t>
            </a:r>
          </a:p>
          <a:p>
            <a:pPr marL="0" indent="0">
              <a:buNone/>
            </a:pPr>
            <a:r>
              <a:rPr lang="en-IN" b="1" dirty="0"/>
              <a:t>3. Discounts</a:t>
            </a:r>
          </a:p>
          <a:p>
            <a:r>
              <a:rPr lang="en-IN" dirty="0"/>
              <a:t>Discount Percentage has a weak negative association with Final Price.</a:t>
            </a:r>
          </a:p>
          <a:p>
            <a:pPr marL="0" indent="0">
              <a:buNone/>
            </a:pPr>
            <a:r>
              <a:rPr lang="en-IN" b="1" dirty="0"/>
              <a:t>4. Customer Age</a:t>
            </a:r>
          </a:p>
          <a:p>
            <a:r>
              <a:rPr lang="en-IN" dirty="0"/>
              <a:t>Age shows almost no linear association with Final Price.</a:t>
            </a:r>
          </a:p>
          <a:p>
            <a:pPr marL="0" indent="0">
              <a:buNone/>
            </a:pPr>
            <a:r>
              <a:rPr lang="en-IN" b="1" dirty="0"/>
              <a:t>5. Delivery</a:t>
            </a:r>
          </a:p>
          <a:p>
            <a:r>
              <a:rPr lang="en-IN" dirty="0"/>
              <a:t>Delivery Days show almost no linear association with Final Price.</a:t>
            </a:r>
          </a:p>
          <a:p>
            <a:pPr marL="0" indent="0">
              <a:buNone/>
            </a:pPr>
            <a:r>
              <a:rPr lang="en-IN" b="1" dirty="0"/>
              <a:t>Overall Insight</a:t>
            </a:r>
          </a:p>
          <a:p>
            <a:r>
              <a:rPr lang="en-IN" b="1" dirty="0"/>
              <a:t>Product Price and Quantity are the numerical variables most strongly associated with Final Price in this analysis.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586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762CE-274A-8002-D097-B1C1471C2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000"/>
          </a:xfrm>
        </p:spPr>
        <p:txBody>
          <a:bodyPr>
            <a:normAutofit/>
          </a:bodyPr>
          <a:lstStyle/>
          <a:p>
            <a:r>
              <a:rPr lang="en-IN" b="1" i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C5FF-B7FC-6376-63FB-0D214B72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5863"/>
            <a:ext cx="10515600" cy="4991100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The project successfully performed </a:t>
            </a:r>
            <a:r>
              <a:rPr lang="en-IN" b="1" dirty="0"/>
              <a:t>Exploratory Data Analysis on 100,000 retail transactions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Data quality checks confirmed that the checked fields contained </a:t>
            </a:r>
            <a:r>
              <a:rPr lang="en-IN" b="1" dirty="0"/>
              <a:t>no missing, duplicate, or invalid values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Descriptive, univariate, bivariate, and multivariate analyses were performed. </a:t>
            </a:r>
          </a:p>
          <a:p>
            <a:pPr lvl="0"/>
            <a:r>
              <a:rPr lang="en-IN" b="1" dirty="0"/>
              <a:t>Product Price and Final Price</a:t>
            </a:r>
            <a:r>
              <a:rPr lang="en-IN" dirty="0"/>
              <a:t> showed a strong positive linear association. </a:t>
            </a:r>
          </a:p>
          <a:p>
            <a:pPr lvl="0"/>
            <a:r>
              <a:rPr lang="en-IN" b="1" dirty="0"/>
              <a:t>Quantity and Final Price</a:t>
            </a:r>
            <a:r>
              <a:rPr lang="en-IN" dirty="0"/>
              <a:t> showed a moderate positive linear association. </a:t>
            </a:r>
          </a:p>
          <a:p>
            <a:pPr lvl="0"/>
            <a:r>
              <a:rPr lang="en-IN" dirty="0"/>
              <a:t>Statistical techniques such as </a:t>
            </a:r>
            <a:r>
              <a:rPr lang="en-IN" b="1" dirty="0"/>
              <a:t>IQR, skewness, kurtosis, confidence intervals, and correlation testing</a:t>
            </a:r>
            <a:r>
              <a:rPr lang="en-IN" dirty="0"/>
              <a:t> provided deeper insights. </a:t>
            </a:r>
          </a:p>
          <a:p>
            <a:pPr lvl="0"/>
            <a:r>
              <a:rPr lang="en-IN" dirty="0"/>
              <a:t>Visualizations helped identify patterns and relationships in the retail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0774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36</TotalTime>
  <Words>969</Words>
  <Application>Microsoft Office PowerPoint</Application>
  <PresentationFormat>Widescreen</PresentationFormat>
  <Paragraphs>185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</vt:lpstr>
      <vt:lpstr>Mesh</vt:lpstr>
      <vt:lpstr>Retail Data Analysis</vt:lpstr>
      <vt:lpstr>Project Overview</vt:lpstr>
      <vt:lpstr>Project Objectives</vt:lpstr>
      <vt:lpstr>Dataset Overview </vt:lpstr>
      <vt:lpstr>Important Variables</vt:lpstr>
      <vt:lpstr>Data Quality Analysis</vt:lpstr>
      <vt:lpstr>Statistical Analysis</vt:lpstr>
      <vt:lpstr>Cont….</vt:lpstr>
      <vt:lpstr>Univariate Analysis</vt:lpstr>
      <vt:lpstr>Bivariate Analysis</vt:lpstr>
      <vt:lpstr>Multivariate Analysis</vt:lpstr>
      <vt:lpstr>Cont….</vt:lpstr>
      <vt:lpstr>Key Findings</vt:lpstr>
      <vt:lpstr> cont….</vt:lpstr>
      <vt:lpstr>Business Insights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Neelam Upadhyay</dc:creator>
  <cp:lastModifiedBy>Neelam Upadhyay</cp:lastModifiedBy>
  <cp:revision>7</cp:revision>
  <dcterms:created xsi:type="dcterms:W3CDTF">2026-09-25T12:05:42Z</dcterms:created>
  <dcterms:modified xsi:type="dcterms:W3CDTF">2026-09-25T12:52:55Z</dcterms:modified>
</cp:coreProperties>
</file>